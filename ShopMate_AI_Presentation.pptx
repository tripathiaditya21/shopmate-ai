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72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7579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474720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64008" cy="2377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GEN-AI PROJECT  ·  SRM UNIVERSITY AP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ShopMate AI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Conversational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Advisor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5800" y="3383280"/>
            <a:ext cx="3840480" cy="27432"/>
          </a:xfrm>
          <a:prstGeom prst="rect">
            <a:avLst/>
          </a:prstGeom>
          <a:solidFill>
            <a:srgbClr val="94A3B8">
              <a:alpha val="5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Tripathi  ·  Nishkam Makadiya  ·  Vaibhav  ·  Deva Harsha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858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Prof. Vishnu Vardhan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4480560"/>
            <a:ext cx="1316736" cy="347472"/>
          </a:xfrm>
          <a:prstGeom prst="roundRect">
            <a:avLst>
              <a:gd name="adj" fmla="val 13158"/>
            </a:avLst>
          </a:prstGeom>
          <a:solidFill>
            <a:srgbClr val="162535"/>
          </a:solidFill>
          <a:ln w="12700">
            <a:solidFill>
              <a:srgbClr val="00C9A7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480560"/>
            <a:ext cx="1316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29384" y="4480560"/>
            <a:ext cx="1316736" cy="347472"/>
          </a:xfrm>
          <a:prstGeom prst="roundRect">
            <a:avLst>
              <a:gd name="adj" fmla="val 13158"/>
            </a:avLst>
          </a:prstGeom>
          <a:solidFill>
            <a:srgbClr val="162535"/>
          </a:solidFill>
          <a:ln w="12700">
            <a:solidFill>
              <a:srgbClr val="00C9A7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9384" y="4480560"/>
            <a:ext cx="1316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55848" y="4480560"/>
            <a:ext cx="1316736" cy="347472"/>
          </a:xfrm>
          <a:prstGeom prst="roundRect">
            <a:avLst>
              <a:gd name="adj" fmla="val 13158"/>
            </a:avLst>
          </a:prstGeom>
          <a:solidFill>
            <a:srgbClr val="162535"/>
          </a:solidFill>
          <a:ln w="12700">
            <a:solidFill>
              <a:srgbClr val="00C9A7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4480560"/>
            <a:ext cx="1316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82312" y="4480560"/>
            <a:ext cx="1316736" cy="347472"/>
          </a:xfrm>
          <a:prstGeom prst="roundRect">
            <a:avLst>
              <a:gd name="adj" fmla="val 13158"/>
            </a:avLst>
          </a:prstGeom>
          <a:solidFill>
            <a:srgbClr val="162535"/>
          </a:solidFill>
          <a:ln w="12700">
            <a:solidFill>
              <a:srgbClr val="00C9A7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4480560"/>
            <a:ext cx="1316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08776" y="4480560"/>
            <a:ext cx="1316736" cy="347472"/>
          </a:xfrm>
          <a:prstGeom prst="roundRect">
            <a:avLst>
              <a:gd name="adj" fmla="val 13158"/>
            </a:avLst>
          </a:prstGeom>
          <a:solidFill>
            <a:srgbClr val="162535"/>
          </a:solidFill>
          <a:ln w="12700">
            <a:solidFill>
              <a:srgbClr val="00C9A7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08776" y="4480560"/>
            <a:ext cx="1316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Firecrawl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635240" y="4480560"/>
            <a:ext cx="1316736" cy="347472"/>
          </a:xfrm>
          <a:prstGeom prst="roundRect">
            <a:avLst>
              <a:gd name="adj" fmla="val 13158"/>
            </a:avLst>
          </a:prstGeom>
          <a:solidFill>
            <a:srgbClr val="162535"/>
          </a:solidFill>
          <a:ln w="12700">
            <a:solidFill>
              <a:srgbClr val="00C9A7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35240" y="4480560"/>
            <a:ext cx="1316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71520"/>
          </a:solidFill>
          <a:ln w="12700">
            <a:solidFill>
              <a:srgbClr val="07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56432" y="0"/>
            <a:ext cx="4572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25603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online shopping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feel so broken?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-502920" y="3933880"/>
            <a:ext cx="1645920" cy="1645920"/>
          </a:xfrm>
          <a:prstGeom prst="ellips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49040" y="411480"/>
            <a:ext cx="2377440" cy="1920240"/>
          </a:xfrm>
          <a:prstGeom prst="rect">
            <a:avLst/>
          </a:prstGeom>
          <a:solidFill>
            <a:srgbClr val="162535"/>
          </a:solidFill>
          <a:ln w="12700">
            <a:solidFill>
              <a:srgbClr val="00C9A7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86200" y="548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886200" y="10698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Fails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86200" y="143560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interpret complex multi-constraint queries from real users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55080" y="411480"/>
            <a:ext cx="2377440" cy="1920240"/>
          </a:xfrm>
          <a:prstGeom prst="rect">
            <a:avLst/>
          </a:prstGeom>
          <a:solidFill>
            <a:srgbClr val="162535"/>
          </a:solidFill>
          <a:ln w="12700">
            <a:solidFill>
              <a:srgbClr val="00C9A7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548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92240" y="10698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True Intelligence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143560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are scripted; general LLMs lack real-time product data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49040" y="2606040"/>
            <a:ext cx="2377440" cy="1920240"/>
          </a:xfrm>
          <a:prstGeom prst="rect">
            <a:avLst/>
          </a:prstGeom>
          <a:solidFill>
            <a:srgbClr val="162535"/>
          </a:solidFill>
          <a:ln w="12700">
            <a:solidFill>
              <a:srgbClr val="00C9A7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8620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86200" y="32644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Memory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886200" y="363016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 forget preferences between sessions and even turns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55080" y="2606040"/>
            <a:ext cx="2377440" cy="1920240"/>
          </a:xfrm>
          <a:prstGeom prst="rect">
            <a:avLst/>
          </a:prstGeom>
          <a:solidFill>
            <a:srgbClr val="162535"/>
          </a:solidFill>
          <a:ln w="12700">
            <a:solidFill>
              <a:srgbClr val="00C9A7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92240" y="32644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Pricing or Links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92240" y="363016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lack verified prices and direct purchase links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ShopMate AI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conversational shopping assistant that fuses LLM intelligence,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 data, and vector memory into one seamless experience.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2377440"/>
            <a:ext cx="256032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2450592"/>
            <a:ext cx="2560320" cy="2377440"/>
          </a:xfrm>
          <a:prstGeom prst="rect">
            <a:avLst/>
          </a:prstGeom>
          <a:solidFill>
            <a:srgbClr val="162535"/>
          </a:solidFill>
          <a:ln w="12700">
            <a:solidFill>
              <a:srgbClr val="00C9A7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560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94360" y="30632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347472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 for natural language understanding &amp; structured JSON recommendations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2377440"/>
            <a:ext cx="25603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2450592"/>
            <a:ext cx="2560320" cy="2377440"/>
          </a:xfrm>
          <a:prstGeom prst="rect">
            <a:avLst/>
          </a:prstGeom>
          <a:solidFill>
            <a:srgbClr val="162535"/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560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429000" y="30632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Firecrawl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347472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 intelligence retrieves trending product data for every query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2377440"/>
            <a:ext cx="256032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2450592"/>
            <a:ext cx="2560320" cy="2377440"/>
          </a:xfrm>
          <a:prstGeom prst="rect">
            <a:avLst/>
          </a:prstGeom>
          <a:solidFill>
            <a:srgbClr val="162535"/>
          </a:solidFill>
          <a:ln w="1270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2560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263640" y="30632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Memory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63640" y="347472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similarity search remembers user preferences across conversation turns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4645152"/>
            <a:ext cx="1920240" cy="365760"/>
          </a:xfrm>
          <a:prstGeom prst="rect">
            <a:avLst/>
          </a:prstGeom>
          <a:solidFill>
            <a:srgbClr val="071520"/>
          </a:solidFill>
          <a:ln w="12700">
            <a:solidFill>
              <a:srgbClr val="94A3B8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6451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ChatGPT-style Interface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14600" y="4645152"/>
            <a:ext cx="1920240" cy="365760"/>
          </a:xfrm>
          <a:prstGeom prst="rect">
            <a:avLst/>
          </a:prstGeom>
          <a:solidFill>
            <a:srgbClr val="071520"/>
          </a:solidFill>
          <a:ln w="12700">
            <a:solidFill>
              <a:srgbClr val="94A3B8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14600" y="46451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3-Stage AI Pipeline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17720" y="4645152"/>
            <a:ext cx="1920240" cy="365760"/>
          </a:xfrm>
          <a:prstGeom prst="rect">
            <a:avLst/>
          </a:prstGeom>
          <a:solidFill>
            <a:srgbClr val="071520"/>
          </a:solidFill>
          <a:ln w="12700">
            <a:solidFill>
              <a:srgbClr val="94A3B8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46451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 Auth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20840" y="4645152"/>
            <a:ext cx="1920240" cy="365760"/>
          </a:xfrm>
          <a:prstGeom prst="rect">
            <a:avLst/>
          </a:prstGeom>
          <a:solidFill>
            <a:srgbClr val="071520"/>
          </a:solidFill>
          <a:ln w="12700">
            <a:solidFill>
              <a:srgbClr val="94A3B8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46451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Multi-Session Chat History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20116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a reason.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2926080"/>
            <a:ext cx="54864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292608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  ·  FastAPI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5488" y="311810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REST API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3401568"/>
            <a:ext cx="54864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34015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Llama-3.3-70B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359359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3877056"/>
            <a:ext cx="54864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87705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Sentence Transformers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" y="40690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Memory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4352544"/>
            <a:ext cx="54864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435254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Firecrawl Search API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" y="454456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Intelligence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60520" y="365760"/>
            <a:ext cx="219456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>
                <a:alpha val="6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60520" y="365760"/>
            <a:ext cx="21945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25112" y="5669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25112" y="1024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SPA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83680" y="365760"/>
            <a:ext cx="219456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00C9A7">
                <a:alpha val="6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0" y="365760"/>
            <a:ext cx="21945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48272" y="5669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48272" y="1024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Styling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60520" y="1874520"/>
            <a:ext cx="219456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>
                <a:alpha val="6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60520" y="1874520"/>
            <a:ext cx="21945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25112" y="20756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25112" y="2532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83680" y="1874520"/>
            <a:ext cx="219456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>
                <a:alpha val="6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83680" y="1874520"/>
            <a:ext cx="21945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48272" y="20756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48272" y="2532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160520" y="3383280"/>
            <a:ext cx="219456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>
                <a:alpha val="6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160520" y="3383280"/>
            <a:ext cx="21945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25112" y="35844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325112" y="4041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ASGI Server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583680" y="3383280"/>
            <a:ext cx="219456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00C9A7">
                <a:alpha val="6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583680" y="3383280"/>
            <a:ext cx="21945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48272" y="35844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48272" y="4041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160520" y="4663440"/>
            <a:ext cx="4663440" cy="365760"/>
          </a:xfrm>
          <a:prstGeom prst="rect">
            <a:avLst/>
          </a:prstGeom>
          <a:solidFill>
            <a:srgbClr val="E0F2FE"/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60520" y="46634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 Gmail SMTP OTP  ·  Email/Password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71520"/>
          </a:solidFill>
          <a:ln w="12700">
            <a:solidFill>
              <a:srgbClr val="07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30568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95160" y="45720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321040" y="3129861"/>
            <a:ext cx="1645920" cy="1645920"/>
          </a:xfrm>
          <a:prstGeom prst="ellips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32004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Interface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62179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ChatGPT-style multi-turn chat with context continuity across messages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987552"/>
            <a:ext cx="6217920" cy="9144"/>
          </a:xfrm>
          <a:prstGeom prst="rect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115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Product Cards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138988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price range, recommendation reason, personalized why_for_you, rating &amp; buy link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755648"/>
            <a:ext cx="6217920" cy="9144"/>
          </a:xfrm>
          <a:prstGeom prst="rect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83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865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 Data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15798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Firecrawl fetches live trending products before every LLM call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523744"/>
            <a:ext cx="6217920" cy="9144"/>
          </a:xfrm>
          <a:prstGeom prst="rect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60120" y="2633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Memory (FAISS)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29260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similar past queries injected into context — no repeated questions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291840"/>
            <a:ext cx="6217920" cy="9144"/>
          </a:xfrm>
          <a:prstGeom prst="rect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419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60120" y="34015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Auth (Password + OTP)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36941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Email/password login or passwordless OTP via Gmail SMTP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059936"/>
            <a:ext cx="6217920" cy="9144"/>
          </a:xfrm>
          <a:prstGeom prst="rect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📂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60120" y="4169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Multi-Session Sidebar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46227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search, switch, and delete independent shopping conversations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3-Stage AI Recommendation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280160"/>
            <a:ext cx="2606040" cy="2743200"/>
          </a:xfrm>
          <a:prstGeom prst="rect">
            <a:avLst/>
          </a:prstGeom>
          <a:solidFill>
            <a:srgbClr val="162535"/>
          </a:solidFill>
          <a:ln w="1905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80160"/>
            <a:ext cx="260604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6072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Search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" y="23317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query → retrieves top-3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semanticly similar past queries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memory context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26664" y="248716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46120" y="1280160"/>
            <a:ext cx="2606040" cy="2743200"/>
          </a:xfrm>
          <a:prstGeom prst="rect">
            <a:avLst/>
          </a:prstGeom>
          <a:solidFill>
            <a:srgbClr val="162535"/>
          </a:solidFill>
          <a:ln w="1905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280160"/>
            <a:ext cx="2606040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28016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10712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Firecrawl Web Fetch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10712" y="23317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'best trending [query]'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returns 5 live results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trend context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52160" y="248716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80760" y="1280160"/>
            <a:ext cx="2606040" cy="2743200"/>
          </a:xfrm>
          <a:prstGeom prst="rect">
            <a:avLst/>
          </a:prstGeom>
          <a:solidFill>
            <a:srgbClr val="162535"/>
          </a:solidFill>
          <a:ln w="1905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1280160"/>
            <a:ext cx="2606040" cy="4389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128016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45352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Call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45352" y="23317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memory + trends +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 → receives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response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4224528"/>
            <a:ext cx="8321040" cy="685800"/>
          </a:xfrm>
          <a:prstGeom prst="rect">
            <a:avLst/>
          </a:prstGeom>
          <a:solidFill>
            <a:srgbClr val="071520"/>
          </a:solidFill>
          <a:ln w="12700">
            <a:solidFill>
              <a:srgbClr val="94A3B8">
                <a:alpha val="3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2793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SPA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85800" y="45445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(Vercel)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71800" y="42793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971800" y="45445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(Render)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257800" y="42793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In-Memory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257800" y="45445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315200" y="42793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315200" y="45445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Persistence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across 50+ queries, 5 test categories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1901952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9A7">
                <a:alpha val="7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71600"/>
            <a:ext cx="1901952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0876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11480" y="2212848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96312" y="1371600"/>
            <a:ext cx="1901952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>
                <a:alpha val="7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96312" y="1371600"/>
            <a:ext cx="1901952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150876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496312" y="2212848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Valid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81144" y="1371600"/>
            <a:ext cx="1901952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>
                <a:alpha val="7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81144" y="1371600"/>
            <a:ext cx="1901952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81144" y="150876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3.8s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581144" y="2212848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65976" y="1371600"/>
            <a:ext cx="1901952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>
                <a:alpha val="7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65976" y="1371600"/>
            <a:ext cx="190195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65976" y="150876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665976" y="2212848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3035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LATENCY BREAKDOWN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3401568"/>
            <a:ext cx="2926080" cy="310896"/>
          </a:xfrm>
          <a:prstGeom prst="rect">
            <a:avLst/>
          </a:prstGeom>
          <a:solidFill>
            <a:srgbClr val="0F1F2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3401568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37560" y="3401568"/>
            <a:ext cx="1280160" cy="310896"/>
          </a:xfrm>
          <a:prstGeom prst="rect">
            <a:avLst/>
          </a:prstGeom>
          <a:solidFill>
            <a:srgbClr val="0F1F2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47288" y="3401568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3401568"/>
            <a:ext cx="1280160" cy="310896"/>
          </a:xfrm>
          <a:prstGeom prst="rect">
            <a:avLst/>
          </a:prstGeom>
          <a:solidFill>
            <a:srgbClr val="0F1F2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27448" y="3401568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95th Pct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97880" y="3401568"/>
            <a:ext cx="2743200" cy="310896"/>
          </a:xfrm>
          <a:prstGeom prst="rect">
            <a:avLst/>
          </a:prstGeom>
          <a:solidFill>
            <a:srgbClr val="0F1F2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07608" y="3401568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3712464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" y="3712464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Search + Embedding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37560" y="3712464"/>
            <a:ext cx="1280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47288" y="3712464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150 ms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17720" y="3712464"/>
            <a:ext cx="1280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27448" y="3712464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 ms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897880" y="3712464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07608" y="371246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CPU-based, very consistent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11480" y="4023360"/>
            <a:ext cx="292608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" y="402336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Firecrawl API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337560" y="4023360"/>
            <a:ext cx="128016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47288" y="402336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17720" y="4023360"/>
            <a:ext cx="128016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27448" y="402336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 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897880" y="4023360"/>
            <a:ext cx="274320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07608" y="402336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with query complexity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11480" y="4334256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1208" y="433425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Call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337560" y="4334256"/>
            <a:ext cx="1280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47288" y="4334256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 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17720" y="4334256"/>
            <a:ext cx="1280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27448" y="4334256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 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897880" y="4334256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07608" y="433425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with output length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11480" y="4645152"/>
            <a:ext cx="292608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1208" y="4645152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(Total)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337560" y="4645152"/>
            <a:ext cx="128016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47288" y="4645152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 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617720" y="4645152"/>
            <a:ext cx="128016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27448" y="4645152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897880" y="4645152"/>
            <a:ext cx="274320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007608" y="464515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5 s target for most queries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0"/>
            <a:ext cx="5486400" cy="5486400"/>
          </a:xfrm>
          <a:prstGeom prst="ellipse">
            <a:avLst/>
          </a:prstGeom>
          <a:solidFill>
            <a:srgbClr val="00C9A7">
              <a:alpha val="7000"/>
            </a:srgbClr>
          </a:solidFill>
          <a:ln w="12700">
            <a:solidFill>
              <a:srgbClr val="00C9A7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 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3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3977640" cy="1005840"/>
          </a:xfrm>
          <a:prstGeom prst="rect">
            <a:avLst/>
          </a:prstGeom>
          <a:solidFill>
            <a:srgbClr val="162535"/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🗃️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16152" y="150876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Vector DB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16152" y="1874520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Pinecone / pgvector for cross-session memory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3977640" cy="1005840"/>
          </a:xfrm>
          <a:prstGeom prst="rect">
            <a:avLst/>
          </a:prstGeom>
          <a:solidFill>
            <a:srgbClr val="162535"/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68112" y="150876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Price API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68112" y="1874520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PA API for live prices &amp; verified purchase links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587752"/>
            <a:ext cx="3977640" cy="1005840"/>
          </a:xfrm>
          <a:prstGeom prst="rect">
            <a:avLst/>
          </a:prstGeom>
          <a:solidFill>
            <a:srgbClr val="162535"/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79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16152" y="267919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Password Hashing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16152" y="3044952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bcrypt/Argon2 + PostgreSQL to replace plaintext JSON store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587752"/>
            <a:ext cx="3977640" cy="1005840"/>
          </a:xfrm>
          <a:prstGeom prst="rect">
            <a:avLst/>
          </a:prstGeom>
          <a:solidFill>
            <a:srgbClr val="162535"/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679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68112" y="267919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App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68112" y="3044952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app — backend is already fully compatible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758184"/>
            <a:ext cx="3977640" cy="1005840"/>
          </a:xfrm>
          <a:prstGeom prst="rect">
            <a:avLst/>
          </a:prstGeom>
          <a:solidFill>
            <a:srgbClr val="162535"/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849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🖼️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16152" y="3849624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Search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16152" y="4215384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 to find alternatives via vision LLM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3758184"/>
            <a:ext cx="3977640" cy="1005840"/>
          </a:xfrm>
          <a:prstGeom prst="rect">
            <a:avLst/>
          </a:prstGeom>
          <a:solidFill>
            <a:srgbClr val="162535"/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849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68112" y="3849624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Comparison Mode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68112" y="4215384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spec tables for up to 3 products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C9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54864" cy="5143500"/>
          </a:xfrm>
          <a:prstGeom prst="rect">
            <a:avLst/>
          </a:prstGeom>
          <a:solidFill>
            <a:srgbClr val="071520"/>
          </a:solidFill>
          <a:ln w="12700">
            <a:solidFill>
              <a:srgbClr val="0715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4297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ShopMate AI —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Right.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successful fusion of LLM intelligence, real-time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data, and vector memory — deployed as 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production-quality full-stack web application.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4206240" cy="9144"/>
          </a:xfrm>
          <a:prstGeom prst="rect">
            <a:avLst/>
          </a:prstGeom>
          <a:solidFill>
            <a:srgbClr val="94A3B8">
              <a:alpha val="4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8587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Tripathi  ·  Nishkam Makadiya  ·  Vaibhav  ·  Deva Harsha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41605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Prof. Vishnu Vardhan  |  SRM University AP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57800" y="1097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Multi-source AI fusion (LLM + Web + FAISS)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57800" y="17190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Structured JSON output via prompt engineering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57800" y="234086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Zero-cost deployable architecture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57800" y="296265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Dual authentication (password &amp; OTP)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57800" y="35844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Clear enhancement roadmap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57800" y="42976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683</Words>
  <Application>Microsoft Office PowerPoint</Application>
  <PresentationFormat>On-screen Show (16:9)</PresentationFormat>
  <Paragraphs>196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ShopMate AI — Intelligent Conversational Shopping Advisor</dc:title>
  <dc:subject>PptxGenJS Presentation</dc:subject>
  <dc:creator>PptxGenJS</dc:creator>
  <cp:lastModifiedBy>Nishkam Makadiya</cp:lastModifiedBy>
  <cp:revision>3</cp:revision>
  <dcterms:created xsi:type="dcterms:W3CDTF">2026-04-30T03:20:42Z</dcterms:created>
  <dcterms:modified xsi:type="dcterms:W3CDTF">2026-04-30T05:02:38Z</dcterms:modified>
</cp:coreProperties>
</file>